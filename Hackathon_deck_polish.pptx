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Everyone's instinct for a safety-critical task is fine-tune. We trained nothing. We took a frozen open model and spent inference-time compute, then verified. Build as if compute is free, then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+ why our approach fits: safety-critical, hands-free, and the fix is system design not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track thesis verbatim. The model stays dumb; the system becomes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what WORKS: tested, runs, the safety invariant (every fallback self-verifies).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curve: 7.5%→67.5% denoising, 79.6%→98.45% best-of-N. All real, frozen weights.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insight judges remember: more compute only becomes more SAFETY if the selector is a rule, not a vibe.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app live (mock_ui), then the dashboard. End on the fluent-wrong rejection.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story: it's a general reliability harness for frozen open models, demoed on first aid.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confident: this is how you optimize a frozen open model to its limit.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4343400"/>
            <a:ext cx="5334000" cy="1600200"/>
          </a:xfrm>
          <a:prstGeom prst="roundRect">
            <a:avLst>
              <a:gd name="adj" fmla="val 20238"/>
            </a:avLst>
          </a:prstGeom>
          <a:solidFill>
            <a:srgbClr val="DA2D1F"/>
          </a:solidFill>
          <a:ln/>
        </p:spPr>
      </p:sp>
      <p:sp>
        <p:nvSpPr>
          <p:cNvPr id="3" name="Shape 1"/>
          <p:cNvSpPr/>
          <p:nvPr/>
        </p:nvSpPr>
        <p:spPr>
          <a:xfrm>
            <a:off x="15963900" y="2476500"/>
            <a:ext cx="1600200" cy="5334000"/>
          </a:xfrm>
          <a:prstGeom prst="roundRect">
            <a:avLst>
              <a:gd name="adj" fmla="val 20238"/>
            </a:avLst>
          </a:prstGeom>
          <a:solidFill>
            <a:srgbClr val="DA2D1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838200"/>
            <a:ext cx="21818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127" kern="0" dirty="0">
                <a:solidFill>
                  <a:srgbClr val="DA2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208782" y="852488"/>
            <a:ext cx="11384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81" kern="0" dirty="0">
                <a:solidFill>
                  <a:srgbClr val="CFC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LIFELINE</a:t>
            </a:r>
            <a:endParaRPr lang="en-US" sz="1275" dirty="0"/>
          </a:p>
        </p:txBody>
      </p:sp>
      <p:sp>
        <p:nvSpPr>
          <p:cNvPr id="6" name="Text 4"/>
          <p:cNvSpPr/>
          <p:nvPr/>
        </p:nvSpPr>
        <p:spPr>
          <a:xfrm>
            <a:off x="13672691" y="852488"/>
            <a:ext cx="40290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230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· BUILD THE MACHINE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952500" y="3005063"/>
            <a:ext cx="142494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462" kern="0" dirty="0">
                <a:solidFill>
                  <a:srgbClr val="DA2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FIRST-AID, VERIFIED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52500" y="3524176"/>
            <a:ext cx="14249400" cy="16504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3800" b="1" spc="-414" kern="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Lifeline</a:t>
            </a:r>
            <a:endParaRPr lang="en-US" sz="13800" dirty="0"/>
          </a:p>
        </p:txBody>
      </p:sp>
      <p:sp>
        <p:nvSpPr>
          <p:cNvPr id="9" name="Text 7"/>
          <p:cNvSpPr/>
          <p:nvPr/>
        </p:nvSpPr>
        <p:spPr>
          <a:xfrm>
            <a:off x="952500" y="5517505"/>
            <a:ext cx="11772900" cy="11071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450" spc="-34" kern="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a </a:t>
            </a:r>
            <a:pPr algn="l" indent="0" marL="0">
              <a:lnSpc>
                <a:spcPct val="122000"/>
              </a:lnSpc>
              <a:buNone/>
            </a:pPr>
            <a:r>
              <a:rPr lang="en-US" sz="3450" spc="-34" kern="0" dirty="0">
                <a:solidFill>
                  <a:srgbClr val="DA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</a:t>
            </a:r>
            <a:pPr algn="l" indent="0" marL="0">
              <a:lnSpc>
                <a:spcPct val="122000"/>
              </a:lnSpc>
              <a:buNone/>
            </a:pPr>
            <a:r>
              <a:rPr lang="en-US" sz="3450" spc="-34" kern="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model into a </a:t>
            </a:r>
            <a:pPr algn="l" indent="0" marL="0">
              <a:lnSpc>
                <a:spcPct val="122000"/>
              </a:lnSpc>
              <a:buNone/>
            </a:pPr>
            <a:r>
              <a:rPr lang="en-US" sz="3450" spc="-34" kern="0" dirty="0">
                <a:solidFill>
                  <a:srgbClr val="4FB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~98%-verified </a:t>
            </a:r>
            <a:pPr algn="l" indent="0" marL="0">
              <a:lnSpc>
                <a:spcPct val="122000"/>
              </a:lnSpc>
              <a:buNone/>
            </a:pPr>
            <a:r>
              <a:rPr lang="en-US" sz="3450" spc="-34" kern="0" dirty="0">
                <a:solidFill>
                  <a:srgbClr val="E9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first-aid assistant.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952500" y="6796088"/>
            <a:ext cx="102679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9B9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Inference-time compute + a deterministic verifier. </a:t>
            </a:r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52500" y="9184481"/>
            <a:ext cx="76200" cy="76200"/>
          </a:xfrm>
          <a:prstGeom prst="ellipse">
            <a:avLst/>
          </a:prstGeom>
          <a:solidFill>
            <a:srgbClr val="4FBE8B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475" y="9110663"/>
            <a:ext cx="3955725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9B9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· vnmoorthy.github.io/lifeline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31185" y="9110663"/>
            <a:ext cx="185961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5C5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98146" y="9110663"/>
            <a:ext cx="3500385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9B9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github.com/vnmoorthy/lifeline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378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 &amp; PROBLEM FIT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52500" y="1266825"/>
            <a:ext cx="15304770" cy="127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50" b="1" spc="-93" kern="0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an emergency you can't read a web page — and a wrong instruction can kill.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952500" y="5130105"/>
            <a:ext cx="23626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303065" y="5130105"/>
            <a:ext cx="719319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Google first-aid in a panic —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 busy, seconds matter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answer has to be trusted.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9048750" y="5130105"/>
            <a:ext cx="23626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399315" y="5130105"/>
            <a:ext cx="719319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models are getting good, but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C62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'mostly right' is unacceptable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CPR, choking, overdose, bleeding.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52500" y="6320730"/>
            <a:ext cx="23626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03065" y="6320730"/>
            <a:ext cx="719319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usual fix — fine-tune on medical data — is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costly, and still probabilistic.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048750" y="6320730"/>
            <a:ext cx="23626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C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399315" y="6320730"/>
            <a:ext cx="7193196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approach: keep the model frozen, make the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at inference time.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952500" y="9663113"/>
            <a:ext cx="1798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70459" y="9653588"/>
            <a:ext cx="102721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464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610037" y="9653588"/>
            <a:ext cx="8016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378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APPROACH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52500" y="1266825"/>
            <a:ext cx="1471612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500" b="1" spc="-90" kern="0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train — spend. Build as if compute is free, then verify.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52500" y="4304854"/>
            <a:ext cx="3716982" cy="2401193"/>
          </a:xfrm>
          <a:prstGeom prst="roundRect">
            <a:avLst>
              <a:gd name="adj" fmla="val 5553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6825" y="4638229"/>
            <a:ext cx="339716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FROZEN 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66825" y="4966841"/>
            <a:ext cx="3180982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DiffusionGemma-26B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66825" y="5812631"/>
            <a:ext cx="3180982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gradient steps. Weights never move.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4917132" y="4304854"/>
            <a:ext cx="359718" cy="243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6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48300" y="4304854"/>
            <a:ext cx="3716982" cy="2401193"/>
          </a:xfrm>
          <a:prstGeom prst="roundRect">
            <a:avLst>
              <a:gd name="adj" fmla="val 5553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2625" y="4638229"/>
            <a:ext cx="339716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INFERENCE-TIME COMPUTE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2625" y="4966841"/>
            <a:ext cx="3397166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× Best-of-N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762625" y="5456411"/>
            <a:ext cx="3180982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knobs. Spend more only when needed.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9412932" y="4304854"/>
            <a:ext cx="359718" cy="243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6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9944100" y="4304854"/>
            <a:ext cx="3716982" cy="2401193"/>
          </a:xfrm>
          <a:prstGeom prst="roundRect">
            <a:avLst>
              <a:gd name="adj" fmla="val 5553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58425" y="4638229"/>
            <a:ext cx="339716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VERIFIER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58425" y="4966841"/>
            <a:ext cx="3397166" cy="39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gate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0258425" y="5456411"/>
            <a:ext cx="3180982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protocol-correct candidates.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3908732" y="4304854"/>
            <a:ext cx="359718" cy="243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B6B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14439900" y="4304854"/>
            <a:ext cx="2895600" cy="2401193"/>
          </a:xfrm>
          <a:prstGeom prst="roundRect">
            <a:avLst>
              <a:gd name="adj" fmla="val 5553"/>
            </a:avLst>
          </a:prstGeom>
          <a:solidFill>
            <a:srgbClr val="1C7A4D"/>
          </a:solidFill>
          <a:ln/>
        </p:spPr>
      </p:sp>
      <p:sp>
        <p:nvSpPr>
          <p:cNvPr id="20" name="Text 18"/>
          <p:cNvSpPr/>
          <p:nvPr/>
        </p:nvSpPr>
        <p:spPr>
          <a:xfrm>
            <a:off x="15195352" y="5093494"/>
            <a:ext cx="1523167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spc="81" kern="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4050" dirty="0"/>
          </a:p>
        </p:txBody>
      </p:sp>
      <p:sp>
        <p:nvSpPr>
          <p:cNvPr id="21" name="Text 19"/>
          <p:cNvSpPr/>
          <p:nvPr/>
        </p:nvSpPr>
        <p:spPr>
          <a:xfrm>
            <a:off x="15137606" y="5731669"/>
            <a:ext cx="165020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BCE3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OUTPUT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52500" y="7220396"/>
            <a:ext cx="2134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61170" y="7220396"/>
            <a:ext cx="743256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a deterministic verifier — never a vibe.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9048750" y="7220396"/>
            <a:ext cx="2134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57420" y="7220396"/>
            <a:ext cx="7432563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the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'Build the machine'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bet: near-infinite compute, near-zero latency — built for today.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52500" y="9663113"/>
            <a:ext cx="1798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0459" y="9653588"/>
            <a:ext cx="102721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464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LIFELINE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610037" y="9653588"/>
            <a:ext cx="8016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378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EXECUTION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52500" y="1266825"/>
            <a:ext cx="18021300" cy="618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87" kern="0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recognize → spend → verify → speak.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3863801"/>
            <a:ext cx="378237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E0DB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52500" y="4530551"/>
            <a:ext cx="37823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4997276"/>
            <a:ext cx="3541681" cy="949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the spoken emergency, run principled triage, pick the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protocol.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676775" y="4840560"/>
            <a:ext cx="34290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267325" y="3863801"/>
            <a:ext cx="378237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E0DB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5267325" y="4530551"/>
            <a:ext cx="37823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compute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267325" y="4997276"/>
            <a:ext cx="3541681" cy="1253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candidates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right denoising depth — the effort-manager spends more only when needed.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991600" y="4840560"/>
            <a:ext cx="34290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82150" y="3863801"/>
            <a:ext cx="378237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E0DB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050" dirty="0"/>
          </a:p>
        </p:txBody>
      </p:sp>
      <p:sp>
        <p:nvSpPr>
          <p:cNvPr id="13" name="Text 11"/>
          <p:cNvSpPr/>
          <p:nvPr/>
        </p:nvSpPr>
        <p:spPr>
          <a:xfrm>
            <a:off x="9582150" y="4530551"/>
            <a:ext cx="37823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582150" y="4997276"/>
            <a:ext cx="3541681" cy="949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each against the protocol: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concepts present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C62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forbidden actions absent.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3306425" y="4840560"/>
            <a:ext cx="342900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C8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896975" y="3863801"/>
            <a:ext cx="378237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E0DBC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13896975" y="4530551"/>
            <a:ext cx="378237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3896975" y="4997276"/>
            <a:ext cx="3541681" cy="987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first verified answer — else the canonical protocol. </a:t>
            </a:r>
            <a:pPr algn="l" indent="0" marL="0">
              <a:lnSpc>
                <a:spcPct val="145000"/>
              </a:lnSpc>
              <a:buNone/>
            </a:pPr>
            <a:r>
              <a:rPr lang="en-US" sz="16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an unverified step.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52500" y="6650757"/>
            <a:ext cx="3981450" cy="1066800"/>
          </a:xfrm>
          <a:prstGeom prst="roundRect">
            <a:avLst>
              <a:gd name="adj" fmla="val 10714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8725" y="6869832"/>
            <a:ext cx="37719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28725" y="7274644"/>
            <a:ext cx="377190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emergencies covered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86350" y="6650757"/>
            <a:ext cx="3981450" cy="1066800"/>
          </a:xfrm>
          <a:prstGeom prst="roundRect">
            <a:avLst>
              <a:gd name="adj" fmla="val 10714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2575" y="6869832"/>
            <a:ext cx="37719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5362575" y="7274644"/>
            <a:ext cx="377190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in &amp; out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9220200" y="6650757"/>
            <a:ext cx="3981450" cy="1066800"/>
          </a:xfrm>
          <a:prstGeom prst="roundRect">
            <a:avLst>
              <a:gd name="adj" fmla="val 10714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96425" y="6869832"/>
            <a:ext cx="37719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496425" y="7274644"/>
            <a:ext cx="377190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PWA, works offline-first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3354050" y="6650757"/>
            <a:ext cx="3981450" cy="1066800"/>
          </a:xfrm>
          <a:prstGeom prst="roundRect">
            <a:avLst>
              <a:gd name="adj" fmla="val 10714"/>
            </a:avLst>
          </a:prstGeom>
          <a:solidFill>
            <a:srgbClr val="EEF6F0"/>
          </a:solidFill>
          <a:ln w="9525">
            <a:solidFill>
              <a:srgbClr val="C9E4D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630275" y="6869832"/>
            <a:ext cx="37719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tests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13630275" y="7274644"/>
            <a:ext cx="3771900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green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52500" y="9663113"/>
            <a:ext cx="1798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70459" y="9653588"/>
            <a:ext cx="102721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464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LIFELINE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610037" y="9653588"/>
            <a:ext cx="8016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378" kern="0" dirty="0">
                <a:solidFill>
                  <a:srgbClr val="DA2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TECHNICAL EXECUTION — IT WORKS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52500" y="1266825"/>
            <a:ext cx="18021300" cy="578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50" b="1" spc="-81" kern="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Inference-time compute, measured on a frozen model.</a:t>
            </a:r>
            <a:endParaRPr lang="en-US" sz="4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187848"/>
            <a:ext cx="9061326" cy="69132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14500" y="9139238"/>
            <a:ext cx="920545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6F6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inference compute (denoising steps, then best-of-N candidates)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0623426" y="3777555"/>
            <a:ext cx="3241700" cy="19050"/>
          </a:xfrm>
          <a:prstGeom prst="rect">
            <a:avLst/>
          </a:prstGeom>
          <a:solidFill>
            <a:srgbClr val="3A3426"/>
          </a:solidFill>
          <a:ln/>
        </p:spPr>
      </p:sp>
      <p:sp>
        <p:nvSpPr>
          <p:cNvPr id="7" name="Text 4"/>
          <p:cNvSpPr/>
          <p:nvPr/>
        </p:nvSpPr>
        <p:spPr>
          <a:xfrm>
            <a:off x="10623426" y="3949005"/>
            <a:ext cx="35658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9B9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SINGLE-SHOT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10623426" y="4210943"/>
            <a:ext cx="356587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79.6%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14093726" y="3777555"/>
            <a:ext cx="3241774" cy="19050"/>
          </a:xfrm>
          <a:prstGeom prst="rect">
            <a:avLst/>
          </a:prstGeom>
          <a:solidFill>
            <a:srgbClr val="4FBE8B"/>
          </a:solidFill>
          <a:ln/>
        </p:spPr>
      </p:sp>
      <p:sp>
        <p:nvSpPr>
          <p:cNvPr id="10" name="Text 7"/>
          <p:cNvSpPr/>
          <p:nvPr/>
        </p:nvSpPr>
        <p:spPr>
          <a:xfrm>
            <a:off x="14093726" y="3949005"/>
            <a:ext cx="356595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4FB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BEST-OF-N VERIFIED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14093726" y="4210943"/>
            <a:ext cx="356595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4FB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98.45%</a:t>
            </a:r>
            <a:endParaRPr 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10623426" y="5106293"/>
            <a:ext cx="3241700" cy="19050"/>
          </a:xfrm>
          <a:prstGeom prst="rect">
            <a:avLst/>
          </a:prstGeom>
          <a:solidFill>
            <a:srgbClr val="3A3426"/>
          </a:solidFill>
          <a:ln/>
        </p:spPr>
      </p:sp>
      <p:sp>
        <p:nvSpPr>
          <p:cNvPr id="13" name="Text 10"/>
          <p:cNvSpPr/>
          <p:nvPr/>
        </p:nvSpPr>
        <p:spPr>
          <a:xfrm>
            <a:off x="10623426" y="5277743"/>
            <a:ext cx="356587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9B9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10623426" y="5539680"/>
            <a:ext cx="356587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3600" dirty="0"/>
          </a:p>
        </p:txBody>
      </p:sp>
      <p:sp>
        <p:nvSpPr>
          <p:cNvPr id="15" name="Shape 12"/>
          <p:cNvSpPr/>
          <p:nvPr/>
        </p:nvSpPr>
        <p:spPr>
          <a:xfrm>
            <a:off x="14093726" y="5106293"/>
            <a:ext cx="3241774" cy="19050"/>
          </a:xfrm>
          <a:prstGeom prst="rect">
            <a:avLst/>
          </a:prstGeom>
          <a:solidFill>
            <a:srgbClr val="3A3426"/>
          </a:solidFill>
          <a:ln/>
        </p:spPr>
      </p:sp>
      <p:sp>
        <p:nvSpPr>
          <p:cNvPr id="16" name="Text 13"/>
          <p:cNvSpPr/>
          <p:nvPr/>
        </p:nvSpPr>
        <p:spPr>
          <a:xfrm>
            <a:off x="14093726" y="5277743"/>
            <a:ext cx="356595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9B9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14093726" y="5539680"/>
            <a:ext cx="356595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0.5–1.9s</a:t>
            </a:r>
            <a:endParaRPr lang="en-US" sz="3600" dirty="0"/>
          </a:p>
        </p:txBody>
      </p:sp>
      <p:sp>
        <p:nvSpPr>
          <p:cNvPr id="18" name="Shape 15"/>
          <p:cNvSpPr/>
          <p:nvPr/>
        </p:nvSpPr>
        <p:spPr>
          <a:xfrm>
            <a:off x="10623426" y="6282630"/>
            <a:ext cx="6712074" cy="1462088"/>
          </a:xfrm>
          <a:prstGeom prst="roundRect">
            <a:avLst>
              <a:gd name="adj" fmla="val 7818"/>
            </a:avLst>
          </a:prstGeom>
          <a:solidFill>
            <a:srgbClr val="1E1810"/>
          </a:solidFill>
          <a:ln w="9525">
            <a:solidFill>
              <a:srgbClr val="3A34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880601" y="6501705"/>
            <a:ext cx="638365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Best-of-N closes the gap to </a:t>
            </a:r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4FB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~98% </a:t>
            </a:r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purely more inference, no training.</a:t>
            </a:r>
            <a:endParaRPr lang="en-US" sz="1575" dirty="0"/>
          </a:p>
        </p:txBody>
      </p:sp>
      <p:sp>
        <p:nvSpPr>
          <p:cNvPr id="20" name="Text 17"/>
          <p:cNvSpPr/>
          <p:nvPr/>
        </p:nvSpPr>
        <p:spPr>
          <a:xfrm>
            <a:off x="10880601" y="7235130"/>
            <a:ext cx="638365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425" b="1" dirty="0">
                <a:solidFill>
                  <a:srgbClr val="DA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Model-agnostic: </a:t>
            </a:r>
            <a:pPr algn="l" indent="0" marL="0">
              <a:lnSpc>
                <a:spcPct val="150000"/>
              </a:lnSpc>
              <a:buNone/>
            </a:pPr>
            <a:r>
              <a:rPr lang="en-US" sz="1425" dirty="0">
                <a:solidFill>
                  <a:srgbClr val="9B94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recipe on Qwen2.5-7B went 65% → 98.3%.</a:t>
            </a:r>
            <a:endParaRPr lang="en-US" sz="1425" dirty="0"/>
          </a:p>
        </p:txBody>
      </p:sp>
      <p:sp>
        <p:nvSpPr>
          <p:cNvPr id="21" name="Text 18"/>
          <p:cNvSpPr/>
          <p:nvPr/>
        </p:nvSpPr>
        <p:spPr>
          <a:xfrm>
            <a:off x="952500" y="9682163"/>
            <a:ext cx="1798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DA2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70459" y="9672638"/>
            <a:ext cx="102721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CFC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LIFELINE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6610037" y="9672638"/>
            <a:ext cx="8016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378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NOVELTY &amp; INSIGHT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52500" y="1266825"/>
            <a:ext cx="15304770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87" kern="0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verifier beats an LLM-judge — and that's the whole game.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2636490"/>
            <a:ext cx="14519910" cy="804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Best-of-N is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search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with enough samples you </a:t>
            </a:r>
            <a:pPr algn="l" indent="0" marL="0">
              <a:lnSpc>
                <a:spcPct val="150000"/>
              </a:lnSpc>
              <a:buNone/>
            </a:pPr>
            <a:r>
              <a:rPr lang="en-US" sz="1950" b="1" dirty="0">
                <a:solidFill>
                  <a:srgbClr val="C62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</a:t>
            </a:r>
            <a:pPr algn="l" indent="0" marL="0">
              <a:lnSpc>
                <a:spcPct val="150000"/>
              </a:lnSpc>
              <a:buNone/>
            </a:pPr>
            <a:r>
              <a:rPr lang="en-US" sz="19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fluent, confident, wrong answers. The selector has to be a rule, not a vibe.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822353"/>
            <a:ext cx="8039100" cy="4159597"/>
          </a:xfrm>
          <a:prstGeom prst="roundRect">
            <a:avLst>
              <a:gd name="adj" fmla="val 3664"/>
            </a:avLst>
          </a:prstGeom>
          <a:solidFill>
            <a:srgbClr val="EEF6F0"/>
          </a:solidFill>
          <a:ln w="9525">
            <a:solidFill>
              <a:srgbClr val="C9E4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3025" y="4241453"/>
            <a:ext cx="114300" cy="114300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7" name="Text 5"/>
          <p:cNvSpPr/>
          <p:nvPr/>
        </p:nvSpPr>
        <p:spPr>
          <a:xfrm>
            <a:off x="1590675" y="4193828"/>
            <a:ext cx="28997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1C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VERIFIER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343025" y="4670078"/>
            <a:ext cx="25821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658392" y="4670078"/>
            <a:ext cx="5889174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23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same input, same verdict, every run.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343025" y="5217765"/>
            <a:ext cx="25821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658392" y="5217765"/>
            <a:ext cx="626873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Unhackable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23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fluency — checks protocol, not prose.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343025" y="5765453"/>
            <a:ext cx="25821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658392" y="5765453"/>
            <a:ext cx="447683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~Free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23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so best-of-N actually scales.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343025" y="6313140"/>
            <a:ext cx="25821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1658392" y="6313140"/>
            <a:ext cx="487817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23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safety guarantee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234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probability.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296400" y="3822353"/>
            <a:ext cx="8039100" cy="4159597"/>
          </a:xfrm>
          <a:prstGeom prst="roundRect">
            <a:avLst>
              <a:gd name="adj" fmla="val 3664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86925" y="4241453"/>
            <a:ext cx="114300" cy="114300"/>
          </a:xfrm>
          <a:prstGeom prst="ellipse">
            <a:avLst/>
          </a:prstGeom>
          <a:solidFill>
            <a:srgbClr val="B6B0A0"/>
          </a:solidFill>
          <a:ln/>
        </p:spPr>
      </p:sp>
      <p:sp>
        <p:nvSpPr>
          <p:cNvPr id="18" name="Text 16"/>
          <p:cNvSpPr/>
          <p:nvPr/>
        </p:nvSpPr>
        <p:spPr>
          <a:xfrm>
            <a:off x="9934575" y="4193828"/>
            <a:ext cx="11546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spc="179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LLM-JUDGE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9686925" y="4670078"/>
            <a:ext cx="25777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C62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0001845" y="4670078"/>
            <a:ext cx="633553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Fooled by fluency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confident prose reads as correct.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9686925" y="5217765"/>
            <a:ext cx="25777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C62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001845" y="5217765"/>
            <a:ext cx="49101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Flip-flops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run-to-run on the same answer.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9686925" y="5765453"/>
            <a:ext cx="25777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C62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0001845" y="5765453"/>
            <a:ext cx="711667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an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call per candidate </a:t>
            </a:r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best-of-N gets expensive.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9686925" y="6313140"/>
            <a:ext cx="25777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C62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0001845" y="6313140"/>
            <a:ext cx="401091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75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guarantee — just </a:t>
            </a:r>
            <a:pPr algn="l" indent="0" marL="0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vibe.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952500" y="8267700"/>
            <a:ext cx="16383000" cy="971550"/>
          </a:xfrm>
          <a:prstGeom prst="roundRect">
            <a:avLst>
              <a:gd name="adj" fmla="val 13725"/>
            </a:avLst>
          </a:prstGeom>
          <a:solidFill>
            <a:srgbClr val="141009"/>
          </a:solidFill>
          <a:ln/>
        </p:spPr>
      </p:sp>
      <p:sp>
        <p:nvSpPr>
          <p:cNvPr id="28" name="Text 26"/>
          <p:cNvSpPr/>
          <p:nvPr/>
        </p:nvSpPr>
        <p:spPr>
          <a:xfrm>
            <a:off x="1333500" y="8515350"/>
            <a:ext cx="14738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4FB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3450" dirty="0"/>
          </a:p>
        </p:txBody>
      </p:sp>
      <p:sp>
        <p:nvSpPr>
          <p:cNvPr id="29" name="Text 27"/>
          <p:cNvSpPr/>
          <p:nvPr/>
        </p:nvSpPr>
        <p:spPr>
          <a:xfrm>
            <a:off x="2806750" y="8667750"/>
            <a:ext cx="38039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fluent-but-dangerous answers caught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6722046" y="8534400"/>
            <a:ext cx="9525" cy="438150"/>
          </a:xfrm>
          <a:prstGeom prst="rect">
            <a:avLst/>
          </a:prstGeom>
          <a:solidFill>
            <a:srgbClr val="3A3426"/>
          </a:solidFill>
          <a:ln/>
        </p:spPr>
      </p:sp>
      <p:sp>
        <p:nvSpPr>
          <p:cNvPr id="31" name="Text 29"/>
          <p:cNvSpPr/>
          <p:nvPr/>
        </p:nvSpPr>
        <p:spPr>
          <a:xfrm>
            <a:off x="7188771" y="8515350"/>
            <a:ext cx="319832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4FB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50" dirty="0"/>
          </a:p>
        </p:txBody>
      </p:sp>
      <p:sp>
        <p:nvSpPr>
          <p:cNvPr id="32" name="Text 30"/>
          <p:cNvSpPr/>
          <p:nvPr/>
        </p:nvSpPr>
        <p:spPr>
          <a:xfrm>
            <a:off x="7565752" y="8667750"/>
            <a:ext cx="489389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leaks on the 42-candidate adversarial set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952500" y="9663113"/>
            <a:ext cx="1798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70459" y="9653588"/>
            <a:ext cx="102721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464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LIFELINE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610037" y="9653588"/>
            <a:ext cx="8016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378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 &amp; DEMO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52500" y="1266825"/>
            <a:ext cx="15304770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87" kern="0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talk to it, watch it spend compute, watch it refuse to be wrong.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952500" y="2903190"/>
            <a:ext cx="5081513" cy="5378797"/>
          </a:xfrm>
          <a:prstGeom prst="roundRect">
            <a:avLst>
              <a:gd name="adj" fmla="val 2999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5875" y="3236565"/>
            <a:ext cx="485623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EASY CASE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285875" y="3593753"/>
            <a:ext cx="485623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 collapsed, not breathing"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85875" y="7300913"/>
            <a:ext cx="454720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on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1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speaks CPR steps instantly.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81663" y="2903190"/>
            <a:ext cx="5081513" cy="5378797"/>
          </a:xfrm>
          <a:prstGeom prst="roundRect">
            <a:avLst>
              <a:gd name="adj" fmla="val 2999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5038" y="3236565"/>
            <a:ext cx="485623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80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 CASE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615038" y="3593753"/>
            <a:ext cx="485623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"Boiling water on her arm"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15038" y="7300913"/>
            <a:ext cx="454720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Escalates </a:t>
            </a:r>
            <a:pPr algn="l" indent="0" marL="0">
              <a:lnSpc>
                <a:spcPct val="150000"/>
              </a:lnSpc>
              <a:buNone/>
            </a:pPr>
            <a:r>
              <a:rPr lang="en-US" sz="16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best-of-N </a:t>
            </a:r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6B6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early-exits the moment one verifies.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1610826" y="2903190"/>
            <a:ext cx="5724674" cy="5378797"/>
          </a:xfrm>
          <a:prstGeom prst="roundRect">
            <a:avLst>
              <a:gd name="adj" fmla="val 2833"/>
            </a:avLst>
          </a:prstGeom>
          <a:solidFill>
            <a:srgbClr val="141009"/>
          </a:solidFill>
          <a:ln/>
        </p:spPr>
      </p:sp>
      <p:sp>
        <p:nvSpPr>
          <p:cNvPr id="13" name="Text 11"/>
          <p:cNvSpPr/>
          <p:nvPr/>
        </p:nvSpPr>
        <p:spPr>
          <a:xfrm>
            <a:off x="11934676" y="3227040"/>
            <a:ext cx="558467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180" kern="0" dirty="0">
                <a:solidFill>
                  <a:srgbClr val="DA2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MONEY MOMENT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1934676" y="3574703"/>
            <a:ext cx="522928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fluent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DA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</a:t>
            </a:r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an LLM-judge would accept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934676" y="7270552"/>
            <a:ext cx="5229283" cy="725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</a:t>
            </a:r>
            <a:pPr algn="l" indent="0" marL="0">
              <a:lnSpc>
                <a:spcPct val="155000"/>
              </a:lnSpc>
              <a:buNone/>
            </a:pPr>
            <a:r>
              <a:rPr lang="en-US" sz="1650" b="1" dirty="0">
                <a:solidFill>
                  <a:srgbClr val="DA2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→ falls back to the canonical protocol. The audience </a:t>
            </a:r>
            <a:pPr algn="l" indent="0" marL="0">
              <a:lnSpc>
                <a:spcPct val="155000"/>
              </a:lnSpc>
              <a:buNone/>
            </a:pPr>
            <a:r>
              <a:rPr lang="en-US" sz="1650" i="1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</a:t>
            </a:r>
            <a:pPr algn="l" indent="0" marL="0">
              <a:lnSpc>
                <a:spcPct val="155000"/>
              </a:lnSpc>
              <a:buNone/>
            </a:pPr>
            <a:r>
              <a:rPr lang="en-US" sz="16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guarantee hold.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952500" y="8567738"/>
            <a:ext cx="8105775" cy="671513"/>
          </a:xfrm>
          <a:prstGeom prst="roundRect">
            <a:avLst>
              <a:gd name="adj" fmla="val 17021"/>
            </a:avLst>
          </a:prstGeom>
          <a:solidFill>
            <a:srgbClr val="EEF6F0"/>
          </a:solidFill>
          <a:ln w="9525">
            <a:solidFill>
              <a:srgbClr val="C9E4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28725" y="8860631"/>
            <a:ext cx="85725" cy="85725"/>
          </a:xfrm>
          <a:prstGeom prst="ellipse">
            <a:avLst/>
          </a:prstGeom>
          <a:solidFill>
            <a:srgbClr val="1C7A4D"/>
          </a:solidFill>
          <a:ln/>
        </p:spPr>
      </p:sp>
      <p:sp>
        <p:nvSpPr>
          <p:cNvPr id="18" name="Text 16"/>
          <p:cNvSpPr/>
          <p:nvPr/>
        </p:nvSpPr>
        <p:spPr>
          <a:xfrm>
            <a:off x="1466850" y="8767763"/>
            <a:ext cx="480974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app </a:t>
            </a:r>
            <a:pPr algn="l" indent="0" marL="0">
              <a:buNone/>
            </a:pPr>
            <a:r>
              <a:rPr lang="en-US" sz="1650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buNone/>
            </a:pPr>
            <a:r>
              <a:rPr lang="en-US" sz="1500" dirty="0">
                <a:solidFill>
                  <a:srgbClr val="1C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vnmoorthy.github.io/lifeline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9229725" y="8567738"/>
            <a:ext cx="8105775" cy="671513"/>
          </a:xfrm>
          <a:prstGeom prst="roundRect">
            <a:avLst>
              <a:gd name="adj" fmla="val 17021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5950" y="8860631"/>
            <a:ext cx="85725" cy="85725"/>
          </a:xfrm>
          <a:prstGeom prst="ellipse">
            <a:avLst/>
          </a:prstGeom>
          <a:solidFill>
            <a:srgbClr val="C62A1C"/>
          </a:solidFill>
          <a:ln/>
        </p:spPr>
      </p:sp>
      <p:sp>
        <p:nvSpPr>
          <p:cNvPr id="21" name="Text 19"/>
          <p:cNvSpPr/>
          <p:nvPr/>
        </p:nvSpPr>
        <p:spPr>
          <a:xfrm>
            <a:off x="9744075" y="8767763"/>
            <a:ext cx="571146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</a:t>
            </a:r>
            <a:pPr algn="l" indent="0" marL="0">
              <a:buNone/>
            </a:pPr>
            <a:r>
              <a:rPr lang="en-US" sz="1650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buNone/>
            </a:pPr>
            <a:r>
              <a:rPr lang="en-US" sz="150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/dashboard.html </a:t>
            </a:r>
            <a:pPr algn="l" indent="0" marL="0">
              <a:buNone/>
            </a:pPr>
            <a:r>
              <a:rPr lang="en-US" sz="1425" dirty="0">
                <a:solidFill>
                  <a:srgbClr val="8A85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curves + verifier-vs-judge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952500" y="9663113"/>
            <a:ext cx="1798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70459" y="9653588"/>
            <a:ext cx="102721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464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LIFELINE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610037" y="9653588"/>
            <a:ext cx="8016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001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378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&amp; TRAJECTORY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952500" y="1266825"/>
            <a:ext cx="15893415" cy="1198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350" b="1" spc="-87" kern="0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 works at scale: reliable open models for safety-critical work — no training.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952500" y="4821064"/>
            <a:ext cx="22487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91679" y="4821064"/>
            <a:ext cx="1455003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method is the product.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task with a checkable protocol — code + tests, structured extraction, compliance.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952500" y="5606876"/>
            <a:ext cx="22487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1679" y="5606876"/>
            <a:ext cx="1354512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</a:t>
            </a:r>
            <a:pPr algn="l" indent="0" marL="0">
              <a:lnSpc>
                <a:spcPct val="150000"/>
              </a:lnSpc>
              <a:buNone/>
            </a:pPr>
            <a:r>
              <a:rPr lang="en-US" sz="2175" b="1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better and cheaper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compute gets cheaper — it rides the curve the hackathon is betting on.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52500" y="6392689"/>
            <a:ext cx="224879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C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1679" y="6392689"/>
            <a:ext cx="1474593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'a frozen open model' into 'a system you can 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1C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with your life</a:t>
            </a:r>
            <a:pPr algn="l" indent="0" marL="0">
              <a:lnSpc>
                <a:spcPct val="150000"/>
              </a:lnSpc>
              <a:buNone/>
            </a:pPr>
            <a:r>
              <a:rPr lang="en-US" sz="2175" dirty="0">
                <a:solidFill>
                  <a:srgbClr val="171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 — no data, labels, or GPUs to train.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952500" y="8913019"/>
            <a:ext cx="53950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87252" y="8913019"/>
            <a:ext cx="22860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8C2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11102" y="8782050"/>
            <a:ext cx="2853556" cy="45720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0177" y="8886825"/>
            <a:ext cx="250101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protocols + languages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6108" y="8782050"/>
            <a:ext cx="2379018" cy="45720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55183" y="8886825"/>
            <a:ext cx="201706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deployment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86576" y="8782050"/>
            <a:ext cx="1829246" cy="457200"/>
          </a:xfrm>
          <a:prstGeom prst="roundRect">
            <a:avLst>
              <a:gd name="adj" fmla="val 50000"/>
            </a:avLst>
          </a:prstGeom>
          <a:solidFill>
            <a:srgbClr val="FBFAF6"/>
          </a:solidFill>
          <a:ln w="9525">
            <a:solidFill>
              <a:srgbClr val="E0DB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05651" y="8886825"/>
            <a:ext cx="146729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464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911 hand-off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52500" y="9663113"/>
            <a:ext cx="1798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C62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59" y="9653588"/>
            <a:ext cx="102721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464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610037" y="9653588"/>
            <a:ext cx="8016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09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33500" y="8591550"/>
            <a:ext cx="4953000" cy="1485900"/>
          </a:xfrm>
          <a:prstGeom prst="roundRect">
            <a:avLst>
              <a:gd name="adj" fmla="val 20513"/>
            </a:avLst>
          </a:prstGeom>
          <a:solidFill>
            <a:srgbClr val="DA2D1F"/>
          </a:solidFill>
          <a:ln/>
        </p:spPr>
      </p:sp>
      <p:sp>
        <p:nvSpPr>
          <p:cNvPr id="3" name="Shape 1"/>
          <p:cNvSpPr/>
          <p:nvPr/>
        </p:nvSpPr>
        <p:spPr>
          <a:xfrm>
            <a:off x="400050" y="6858000"/>
            <a:ext cx="1485900" cy="4953000"/>
          </a:xfrm>
          <a:prstGeom prst="roundRect">
            <a:avLst>
              <a:gd name="adj" fmla="val 20513"/>
            </a:avLst>
          </a:prstGeom>
          <a:solidFill>
            <a:srgbClr val="DA2D1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838200"/>
            <a:ext cx="180213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378" kern="0" dirty="0">
                <a:solidFill>
                  <a:srgbClr val="DA2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952500" y="3086919"/>
            <a:ext cx="14716125" cy="2074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950" b="1" spc="-99" kern="0" dirty="0">
                <a:solidFill>
                  <a:srgbClr val="F7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open model + inference-time compute + deterministic verification.</a:t>
            </a:r>
            <a:endParaRPr lang="en-US" sz="4950" dirty="0"/>
          </a:p>
        </p:txBody>
      </p:sp>
      <p:sp>
        <p:nvSpPr>
          <p:cNvPr id="6" name="Text 4"/>
          <p:cNvSpPr/>
          <p:nvPr/>
        </p:nvSpPr>
        <p:spPr>
          <a:xfrm>
            <a:off x="952500" y="5599807"/>
            <a:ext cx="453634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4FBE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79.6% → 98.45%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52500" y="6171307"/>
            <a:ext cx="453634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9B9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· model-agnostic · zero training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09853" y="5599807"/>
            <a:ext cx="9525" cy="766763"/>
          </a:xfrm>
          <a:prstGeom prst="rect">
            <a:avLst/>
          </a:prstGeom>
          <a:solidFill>
            <a:srgbClr val="3A3426"/>
          </a:solidFill>
          <a:ln/>
        </p:spPr>
      </p:sp>
      <p:sp>
        <p:nvSpPr>
          <p:cNvPr id="9" name="Text 7"/>
          <p:cNvSpPr/>
          <p:nvPr/>
        </p:nvSpPr>
        <p:spPr>
          <a:xfrm>
            <a:off x="6152778" y="5599807"/>
            <a:ext cx="409383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leaks · 12/12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6152778" y="6171307"/>
            <a:ext cx="4093838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2" kern="0" dirty="0">
                <a:solidFill>
                  <a:srgbClr val="9B9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fluent-but-dangerous answers rejected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8148638"/>
            <a:ext cx="491149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4FB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l" indent="0" marL="0">
              <a:buNone/>
            </a:pPr>
            <a:r>
              <a:rPr lang="en-US" sz="1350" spc="27" kern="0" dirty="0">
                <a:solidFill>
                  <a:srgbClr val="9B9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app · vnmoorthy.github.io/lifeline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52500" y="8458200"/>
            <a:ext cx="491149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4FB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l" indent="0" marL="0">
              <a:buNone/>
            </a:pPr>
            <a:r>
              <a:rPr lang="en-US" sz="1350" spc="27" kern="0" dirty="0">
                <a:solidFill>
                  <a:srgbClr val="9B9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· …/lifeline/dashboard.html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52500" y="8767763"/>
            <a:ext cx="4911492" cy="2619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27" kern="0" dirty="0">
                <a:solidFill>
                  <a:srgbClr val="DA2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</a:t>
            </a:r>
            <a:pPr algn="l" indent="0" marL="0">
              <a:buNone/>
            </a:pPr>
            <a:r>
              <a:rPr lang="en-US" sz="1350" spc="27" kern="0" dirty="0">
                <a:solidFill>
                  <a:srgbClr val="9B94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· github.com/vnmoorthy/lifeline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528649" y="8677275"/>
            <a:ext cx="528753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as if compute is free, then verify.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52500" y="9682163"/>
            <a:ext cx="17985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96" kern="0" dirty="0">
                <a:solidFill>
                  <a:srgbClr val="DA2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0459" y="9672638"/>
            <a:ext cx="1027212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216" kern="0" dirty="0">
                <a:solidFill>
                  <a:srgbClr val="CFC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10037" y="9672638"/>
            <a:ext cx="801663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96" kern="0" dirty="0">
                <a:solidFill>
                  <a:srgbClr val="8A85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2026-06-20T23:52:21Z</dcterms:created>
  <dcterms:modified xsi:type="dcterms:W3CDTF">2026-06-20T23:52:21Z</dcterms:modified>
</cp:coreProperties>
</file>