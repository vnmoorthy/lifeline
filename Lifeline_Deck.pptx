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Hook: Everyone's instinct for a safety-critical task is fine-tune. We trained nothing. We took a frozen open model and spent inference-time compute, then verified. Build as if compute is free, then verify.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it matters + why our approach fits: safety-critical, hands-free, and the fix is system design not training.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track thesis verbatim. The model stays dumb; the system becomes safe.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Emphasize what WORKS: tested, runs, the safety invariant (every fallback self-verifies).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curve: 7.5%→67.5% denoising, 79.6%→98.45% best-of-N. All real, frozen weights.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insight judges remember: more compute only becomes more SAFETY if the selector is a rule, not a vibe.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the app live (mock_ui), then the dashboard. End on the fluent-wrong rejection.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Scale story: it's a general reliability harness for frozen open models, demoed on first aid.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confident: this is how you optimize a frozen open model to its limit.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68680" y="2103120"/>
            <a:ext cx="640080" cy="640080"/>
          </a:xfrm>
          <a:prstGeom prst="rect">
            <a:avLst/>
          </a:prstGeom>
          <a:solidFill>
            <a:srgbClr val="E548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000" b="1">
                <a:solidFill>
                  <a:srgbClr val="EEF3F9"/>
                </a:solidFill>
              </a:rPr>
              <a:t>+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91640" y="20574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5400" b="1">
                <a:solidFill>
                  <a:srgbClr val="EEF3F9"/>
                </a:solidFill>
              </a:rPr>
              <a:t>Lifeline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320040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>
                <a:solidFill>
                  <a:srgbClr val="9AA7B8"/>
                </a:solidFill>
              </a:rPr>
              <a:t>Turn a FROZEN open-source model into a ~98%-verified first-aid assistant — with inference-time compute + a deterministic verifier. Zero training.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4937760"/>
            <a:ext cx="106070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5C9DFF"/>
                </a:solidFill>
              </a:rPr>
              <a:t>Build the machine  ·  Live app: vnmoorthy.github.io/lifeline  ·  github.com/vnmoorthy/lifeline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64592" cy="457200"/>
          </a:xfrm>
          <a:prstGeom prst="rect">
            <a:avLst/>
          </a:prstGeom>
          <a:solidFill>
            <a:srgbClr val="E548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603504"/>
            <a:ext cx="10058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E5484D"/>
                </a:solidFill>
              </a:rPr>
              <a:t>VISION &amp; PROBLEM FIT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05156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EEF3F9"/>
                </a:solidFill>
              </a:rPr>
              <a:t>In an emergency you can't read a web page — and a wrong instruction can kill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28600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EEF3F9"/>
                </a:solidFill>
              </a:rPr>
              <a:t>•  People Google first-aid in a panic — hands busy, seconds matter, the answer has to be trusted.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EEF3F9"/>
                </a:solidFill>
              </a:rPr>
              <a:t>•  Open models are getting good, but 'mostly right' is unacceptable for CPR, choking, overdose, bleeding.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EEF3F9"/>
                </a:solidFill>
              </a:rPr>
              <a:t>•  The usual fix — fine-tune on medical data — is slow, costly, and still probabilistic.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EEF3F9"/>
                </a:solidFill>
              </a:rPr>
              <a:t>•  Right approach: keep the model frozen, make the SYSTEM safe at inference time.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64592" cy="457200"/>
          </a:xfrm>
          <a:prstGeom prst="rect">
            <a:avLst/>
          </a:prstGeom>
          <a:solidFill>
            <a:srgbClr val="5C9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603504"/>
            <a:ext cx="10058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5C9DFF"/>
                </a:solidFill>
              </a:rPr>
              <a:t>THE 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05156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EEF3F9"/>
                </a:solidFill>
              </a:rPr>
              <a:t>Don't train — spend. Build as if compute is free, then verify.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194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i="1">
                <a:solidFill>
                  <a:srgbClr val="5C9DFF"/>
                </a:solidFill>
              </a:rPr>
              <a:t>frozen model  +  inference-time compute  +  a deterministic verifier  =  safe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200400"/>
            <a:ext cx="10515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EEF3F9"/>
                </a:solidFill>
              </a:rPr>
              <a:t>•  Leave the open model (DiffusionGemma-26B) completely FROZEN — zero gradient steps.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EEF3F9"/>
                </a:solidFill>
              </a:rPr>
              <a:t>•  Spend inference-time compute on two knobs: denoising depth × best-of-N.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EEF3F9"/>
                </a:solidFill>
              </a:rPr>
              <a:t>•  Gate every candidate through a DETERMINISTIC verifier — keep only protocol-correct answers.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EEF3F9"/>
                </a:solidFill>
              </a:rPr>
              <a:t>•  Exactly the 'Build the machine' bet: near-infinite compute, near-zero latency, build for that world today.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64592" cy="457200"/>
          </a:xfrm>
          <a:prstGeom prst="rect">
            <a:avLst/>
          </a:prstGeom>
          <a:solidFill>
            <a:srgbClr val="5C9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603504"/>
            <a:ext cx="10058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5C9DFF"/>
                </a:solidFill>
              </a:rPr>
              <a:t>TECHNICAL EXECUTION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05156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EEF3F9"/>
                </a:solidFill>
              </a:rPr>
              <a:t>How it works — recognize → spend compute → verify → speak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28600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EEF3F9"/>
                </a:solidFill>
              </a:rPr>
              <a:t>•  Recognize the spoken emergency (principled triage) → pick the official protocol.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EEF3F9"/>
                </a:solidFill>
              </a:rPr>
              <a:t>•  Generate N candidates at the right denoising depth (the effort-manager spends more only when needed).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EEF3F9"/>
                </a:solidFill>
              </a:rPr>
              <a:t>•  Verify each against the protocol: required concept-groups present + forbidden actions absent.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EEF3F9"/>
                </a:solidFill>
              </a:rPr>
              <a:t>•  Speak the first verified answer — or fall back to the canonical protocol. NEVER an unverified step.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EEF3F9"/>
                </a:solidFill>
              </a:rPr>
              <a:t>•  17 emergencies. Hands-free voice. Installable PWA. 50+ tests, all green.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64592" cy="457200"/>
          </a:xfrm>
          <a:prstGeom prst="rect">
            <a:avLst/>
          </a:prstGeom>
          <a:solidFill>
            <a:srgbClr val="35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603504"/>
            <a:ext cx="10058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35D6A0"/>
                </a:solidFill>
              </a:rPr>
              <a:t>TECHNICAL EXECUTION —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05156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EEF3F9"/>
                </a:solidFill>
              </a:rPr>
              <a:t>Inference-time compute, measured on a frozen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2286000"/>
            <a:ext cx="2423160" cy="1371600"/>
          </a:xfrm>
          <a:prstGeom prst="rect">
            <a:avLst/>
          </a:prstGeom>
          <a:solidFill>
            <a:srgbClr val="141C27"/>
          </a:solidFill>
          <a:ln w="9525">
            <a:solidFill>
              <a:srgbClr val="232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64592"/>
          <a:lstStyle/>
          <a:p>
            <a:r>
              <a:rPr sz="1200">
                <a:solidFill>
                  <a:srgbClr val="9AA7B8"/>
                </a:solidFill>
              </a:rPr>
              <a:t>SINGLE-SHOT</a:t>
            </a:r>
          </a:p>
          <a:p>
            <a:r>
              <a:rPr sz="2600" b="1">
                <a:solidFill>
                  <a:srgbClr val="EEF3F9"/>
                </a:solidFill>
              </a:rPr>
              <a:t>79.6%</a:t>
            </a:r>
          </a:p>
        </p:txBody>
      </p:sp>
      <p:sp>
        <p:nvSpPr>
          <p:cNvPr id="6" name="Rectangle 5"/>
          <p:cNvSpPr/>
          <p:nvPr/>
        </p:nvSpPr>
        <p:spPr>
          <a:xfrm>
            <a:off x="3520439" y="2286000"/>
            <a:ext cx="2423160" cy="1371600"/>
          </a:xfrm>
          <a:prstGeom prst="rect">
            <a:avLst/>
          </a:prstGeom>
          <a:solidFill>
            <a:srgbClr val="141C27"/>
          </a:solidFill>
          <a:ln w="9525">
            <a:solidFill>
              <a:srgbClr val="232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64592"/>
          <a:lstStyle/>
          <a:p>
            <a:r>
              <a:rPr sz="1200">
                <a:solidFill>
                  <a:srgbClr val="9AA7B8"/>
                </a:solidFill>
              </a:rPr>
              <a:t>BEST-OF-N VERIFIED</a:t>
            </a:r>
          </a:p>
          <a:p>
            <a:r>
              <a:rPr sz="2600" b="1">
                <a:solidFill>
                  <a:srgbClr val="35D6A0"/>
                </a:solidFill>
              </a:rPr>
              <a:t>98.45%</a:t>
            </a:r>
          </a:p>
        </p:txBody>
      </p:sp>
      <p:sp>
        <p:nvSpPr>
          <p:cNvPr id="7" name="Rectangle 6"/>
          <p:cNvSpPr/>
          <p:nvPr/>
        </p:nvSpPr>
        <p:spPr>
          <a:xfrm>
            <a:off x="6172200" y="2286000"/>
            <a:ext cx="2423160" cy="1371600"/>
          </a:xfrm>
          <a:prstGeom prst="rect">
            <a:avLst/>
          </a:prstGeom>
          <a:solidFill>
            <a:srgbClr val="141C27"/>
          </a:solidFill>
          <a:ln w="9525">
            <a:solidFill>
              <a:srgbClr val="232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64592"/>
          <a:lstStyle/>
          <a:p>
            <a:r>
              <a:rPr sz="1200">
                <a:solidFill>
                  <a:srgbClr val="9AA7B8"/>
                </a:solidFill>
              </a:rPr>
              <a:t>TRAINING</a:t>
            </a:r>
          </a:p>
          <a:p>
            <a:r>
              <a:rPr sz="2600" b="1">
                <a:solidFill>
                  <a:srgbClr val="5C9DFF"/>
                </a:solidFill>
              </a:rPr>
              <a:t>None</a:t>
            </a:r>
          </a:p>
        </p:txBody>
      </p:sp>
      <p:sp>
        <p:nvSpPr>
          <p:cNvPr id="8" name="Rectangle 7"/>
          <p:cNvSpPr/>
          <p:nvPr/>
        </p:nvSpPr>
        <p:spPr>
          <a:xfrm>
            <a:off x="8823959" y="2286000"/>
            <a:ext cx="2423160" cy="1371600"/>
          </a:xfrm>
          <a:prstGeom prst="rect">
            <a:avLst/>
          </a:prstGeom>
          <a:solidFill>
            <a:srgbClr val="141C27"/>
          </a:solidFill>
          <a:ln w="9525">
            <a:solidFill>
              <a:srgbClr val="232F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64592"/>
          <a:lstStyle/>
          <a:p>
            <a:r>
              <a:rPr sz="1200">
                <a:solidFill>
                  <a:srgbClr val="9AA7B8"/>
                </a:solidFill>
              </a:rPr>
              <a:t>LATENCY</a:t>
            </a:r>
          </a:p>
          <a:p>
            <a:r>
              <a:rPr sz="2600" b="1">
                <a:solidFill>
                  <a:srgbClr val="F3B340"/>
                </a:solidFill>
              </a:rPr>
              <a:t>0.5–1.9s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4023360"/>
            <a:ext cx="10515600" cy="2377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EEF3F9"/>
                </a:solidFill>
              </a:rPr>
              <a:t>•  Denoising depth lifts a near-random model to its single-sample ceiling (knee at 16 steps).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EEF3F9"/>
                </a:solidFill>
              </a:rPr>
              <a:t>•  Best-of-N then closes the gap to ~98% — purely more inference, no training.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EEF3F9"/>
                </a:solidFill>
              </a:rPr>
              <a:t>•  Model-agnostic: same recipe on Qwen2.5-7B went 65% → 98.3%.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64592" cy="457200"/>
          </a:xfrm>
          <a:prstGeom prst="rect">
            <a:avLst/>
          </a:prstGeom>
          <a:solidFill>
            <a:srgbClr val="F3B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603504"/>
            <a:ext cx="10058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F3B340"/>
                </a:solidFill>
              </a:rPr>
              <a:t>NOVELTY &amp; INSIGHT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05156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EEF3F9"/>
                </a:solidFill>
              </a:rPr>
              <a:t>A deterministic verifier beats an LLM-judge — and that's the whole game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28600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EEF3F9"/>
                </a:solidFill>
              </a:rPr>
              <a:t>•  Best-of-N is adversarial search: with enough samples you WILL surface fluent, confident, wrong answers.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EEF3F9"/>
                </a:solidFill>
              </a:rPr>
              <a:t>•  On a 42-candidate adversarial set, the verifier caught 12/12 fluent-but-dangerous answers — 0 unsafe leaks.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EEF3F9"/>
                </a:solidFill>
              </a:rPr>
              <a:t>•  An LLM-judge is fooled by fluency, flip-flops run-to-run, and costs an API call per candidate.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EEF3F9"/>
                </a:solidFill>
              </a:rPr>
              <a:t>•  Deterministic = consistent, unhackable, ~free (so best-of-N scales), and a hard safety guarantee.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64592" cy="457200"/>
          </a:xfrm>
          <a:prstGeom prst="rect">
            <a:avLst/>
          </a:prstGeom>
          <a:solidFill>
            <a:srgbClr val="5C9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603504"/>
            <a:ext cx="10058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5C9DFF"/>
                </a:solidFill>
              </a:rPr>
              <a:t>PRESENTATION &amp;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05156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EEF3F9"/>
                </a:solidFill>
              </a:rPr>
              <a:t>Live: talk to it, watch it spend compute, watch it refuse to be wrong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28600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EEF3F9"/>
                </a:solidFill>
              </a:rPr>
              <a:t>•  Easy case ('he collapsed, not breathing') → verifies on try 1, speaks CPR steps instantly.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EEF3F9"/>
                </a:solidFill>
              </a:rPr>
              <a:t>•  Hard case ('boiling water on her arm') → escalates best-of-N, early-exits when one verifies.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EEF3F9"/>
                </a:solidFill>
              </a:rPr>
              <a:t>•  Money moment: a fluent WRONG answer an LLM-judge would accept → verifier rejects → falls back to protocol.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EEF3F9"/>
                </a:solidFill>
              </a:rPr>
              <a:t>•  Live: vnmoorthy.github.io/lifeline (talkable voice app) + /dashboard.html (curves + verifier-vs-judge).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64592" cy="457200"/>
          </a:xfrm>
          <a:prstGeom prst="rect">
            <a:avLst/>
          </a:prstGeom>
          <a:solidFill>
            <a:srgbClr val="35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603504"/>
            <a:ext cx="10058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35D6A0"/>
                </a:solidFill>
              </a:rPr>
              <a:t>IMPACT &amp; TRAJECTORY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05156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EEF3F9"/>
                </a:solidFill>
              </a:rPr>
              <a:t>If this works at scale: reliable open models for safety-critical work, no training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28600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EEF3F9"/>
                </a:solidFill>
              </a:rPr>
              <a:t>•  The method is the product: any task with a checkable protocol (code+tests, structured extraction, compliance).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EEF3F9"/>
                </a:solidFill>
              </a:rPr>
              <a:t>•  Gets strictly better and cheaper as compute gets cheaper — it rides the curve the hackathon is betting on.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EEF3F9"/>
                </a:solidFill>
              </a:rPr>
              <a:t>•  Turns 'a frozen open model' into 'a system you can trust with your life' — without data, labels, or GPUs to train.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EEF3F9"/>
                </a:solidFill>
              </a:rPr>
              <a:t>•  Next: more protocols + languages, on-device deployment, live 911 hand-off.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164592" cy="457200"/>
          </a:xfrm>
          <a:prstGeom prst="rect">
            <a:avLst/>
          </a:prstGeom>
          <a:solidFill>
            <a:srgbClr val="E548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603504"/>
            <a:ext cx="10058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E5484D"/>
                </a:solidFill>
              </a:rPr>
              <a:t>RECAP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05156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EEF3F9"/>
                </a:solidFill>
              </a:rPr>
              <a:t>Frozen open model + inference-time compute + deterministic verification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28600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EEF3F9"/>
                </a:solidFill>
              </a:rPr>
              <a:t>•  79.6% → 98.45% verified, model-agnostic, zero training.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EEF3F9"/>
                </a:solidFill>
              </a:rPr>
              <a:t>•  0 unsafe leaks on the 42-candidate adversarial set — 12/12 fluent-but-dangerous answers rejected.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EEF3F9"/>
                </a:solidFill>
              </a:rPr>
              <a:t>•  Live app: vnmoorthy.github.io/lifeline   ·   Dashboard: vnmoorthy.github.io/lifeline/dashboard.html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EEF3F9"/>
                </a:solidFill>
              </a:rPr>
              <a:t>•  Code: github.com/vnmoorthy/lifeline   ·   Build as if compute is free, then verify.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